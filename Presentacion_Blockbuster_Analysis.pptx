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Análisis Estadístico de Películas Blockbuster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0066CC"/>
                </a:solidFill>
              </a:defRPr>
            </a:pPr>
            <a:r>
              <a:t>(1977-2019)</a:t>
            </a:r>
            <a:br/>
            <a:r>
              <a:t>Proyecto Final - Estadística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323232"/>
                </a:solidFill>
              </a:defRPr>
            </a:pPr>
            <a:r>
              <a:t>Universidad de La Habana | MATCOM</a:t>
            </a:r>
            <a:br/>
            <a:r>
              <a:t>Enero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Objetivos y Preguntas de Investigación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323232"/>
                </a:solidFill>
              </a:defRPr>
            </a:pPr>
            <a:r>
              <a:t>La industria cinematográfica mueve miles de millones de dólares anuales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323232"/>
                </a:solidFill>
              </a:defRPr>
            </a:pPr>
            <a:r>
              <a:t>Entender qué impulsa el éxito es fundamental para productores e inversores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 b="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0066CC"/>
                </a:solidFill>
              </a:defRPr>
            </a:pPr>
            <a:r>
              <a:t>PREGUNTAS DE INVESTIGACIÓN: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323232"/>
                </a:solidFill>
              </a:defRPr>
            </a:pPr>
            <a:r>
              <a:t>1. ¿Qué factores influyen en la recaudación mundial de una película?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323232"/>
                </a:solidFill>
              </a:defRPr>
            </a:pPr>
            <a:r>
              <a:t>2. ¿Podemos identificar clusters de películas según características?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323232"/>
                </a:solidFill>
              </a:defRPr>
            </a:pPr>
            <a:r>
              <a:t>3. ¿Ha cambiado la recaudación promedio a lo largo del tiempo?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Descripción del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00994C"/>
                </a:solidFill>
              </a:defRPr>
            </a:pPr>
            <a:r>
              <a:t>📊 DATASET: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323232"/>
                </a:solidFill>
              </a:defRPr>
            </a:pPr>
            <a:r>
              <a:t>Fuente: Kaggle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323232"/>
                </a:solidFill>
              </a:defRPr>
            </a:pPr>
            <a:r>
              <a:t>Período: 1977-2019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323232"/>
                </a:solidFill>
              </a:defRPr>
            </a:pPr>
            <a:r>
              <a:t>Observaciones: Top 10 películas por año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323232"/>
                </a:solidFill>
              </a:defRPr>
            </a:pPr>
            <a:r>
              <a:t>Total: 430 películas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00994C"/>
                </a:solidFill>
              </a:defRPr>
            </a:pPr>
            <a:r>
              <a:t>📈 VARIABLES PRINCIPALES: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323232"/>
                </a:solidFill>
              </a:defRPr>
            </a:pPr>
            <a:r>
              <a:t>• Presupuesto: $15M - $365M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323232"/>
                </a:solidFill>
              </a:defRPr>
            </a:pPr>
            <a:r>
              <a:t>• Recaudación: variables de riesgo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323232"/>
                </a:solidFill>
              </a:defRPr>
            </a:pPr>
            <a:r>
              <a:t>• Rating IMDb: 1-10 escala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323232"/>
                </a:solidFill>
              </a:defRPr>
            </a:pPr>
            <a:r>
              <a:t>• Género: Acción, Drama, Sci-Fi, etc.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323232"/>
                </a:solidFill>
              </a:defRPr>
            </a:pPr>
            <a:r>
              <a:t>• Clasificación MPAA: G, PG, PG-13, 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Análisis Exploratorio (Estadísticos)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200"/>
              </a:spcAft>
              <a:defRPr sz="1300" b="1">
                <a:solidFill>
                  <a:srgbClr val="00994C"/>
                </a:solidFill>
              </a:defRPr>
            </a:pPr>
            <a:r>
              <a:t>VARIABLE | MEDIA | MEDIANA | DESV.EST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 b="1">
                <a:solidFill>
                  <a:srgbClr val="00994C"/>
                </a:solidFill>
              </a:defRPr>
            </a:pPr>
            <a:r>
              <a:t>━━━━━━━━━━━━━━━━━━━━━━━━━━━━━━━━━━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23232"/>
                </a:solidFill>
              </a:defRPr>
            </a:pPr>
            <a:r>
              <a:t>Presupuesto | $108.5M | $100.0M | $67.8M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23232"/>
                </a:solidFill>
              </a:defRPr>
            </a:pPr>
            <a:r>
              <a:t>Recaudación | $698.0M | $654.0M | $425.0M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23232"/>
                </a:solidFill>
              </a:defRPr>
            </a:pPr>
            <a:r>
              <a:t>Rating IMDb | 6.87/10 | 6.90/10 | 0.95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23232"/>
                </a:solidFill>
              </a:defRPr>
            </a:pPr>
            <a:r>
              <a:t>ROI | 6.43 | 5.52 | 6.21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323232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300" b="1">
                <a:solidFill>
                  <a:srgbClr val="323232"/>
                </a:solidFill>
              </a:defRPr>
            </a:pPr>
            <a:r>
              <a:t>🔍 HALLAZGOS: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23232"/>
                </a:solidFill>
              </a:defRPr>
            </a:pPr>
            <a:r>
              <a:t>✓ Presupuestos varían mucho (mín $15M, máx $365M)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23232"/>
                </a:solidFill>
              </a:defRPr>
            </a:pPr>
            <a:r>
              <a:t>✓ Recaudación inconsistente (no siempre sigue presupuesto)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23232"/>
                </a:solidFill>
              </a:defRPr>
            </a:pPr>
            <a:r>
              <a:t>✓ Ratings altos (mayoría 6.5-7.5)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23232"/>
                </a:solidFill>
              </a:defRPr>
            </a:pPr>
            <a:r>
              <a:t>✓ ROI variable: algunos films &gt; 10x inversión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Análisis Exploratorio (Patrones)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300"/>
              </a:spcAft>
              <a:defRPr sz="1500" b="1">
                <a:solidFill>
                  <a:srgbClr val="00994C"/>
                </a:solidFill>
              </a:defRPr>
            </a:pPr>
            <a:r>
              <a:t>🎬 GÉNEROS MÁS COMUNES: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 b="0">
                <a:solidFill>
                  <a:srgbClr val="323232"/>
                </a:solidFill>
              </a:defRPr>
            </a:pPr>
            <a:r>
              <a:t>Acción (32%) | Aventura (28%) | Sci-Fi (18%)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 b="0">
                <a:solidFill>
                  <a:srgbClr val="323232"/>
                </a:solidFill>
              </a:defRPr>
            </a:pPr>
            <a:r>
              <a:t>Drama (12%) | Otros (10%)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323232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500" b="1">
                <a:solidFill>
                  <a:srgbClr val="00994C"/>
                </a:solidFill>
              </a:defRPr>
            </a:pPr>
            <a:r>
              <a:t>🎞️ CLASIFICACIÓN MPAA: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 b="0">
                <a:solidFill>
                  <a:srgbClr val="323232"/>
                </a:solidFill>
              </a:defRPr>
            </a:pPr>
            <a:r>
              <a:t>PG-13: 45% (público más amplio)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 b="0">
                <a:solidFill>
                  <a:srgbClr val="323232"/>
                </a:solidFill>
              </a:defRPr>
            </a:pPr>
            <a:r>
              <a:t>R: 38% (público adulto)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 b="0">
                <a:solidFill>
                  <a:srgbClr val="323232"/>
                </a:solidFill>
              </a:defRPr>
            </a:pPr>
            <a:r>
              <a:t>PG: 12% | G: 5%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323232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500" b="1">
                <a:solidFill>
                  <a:srgbClr val="00994C"/>
                </a:solidFill>
              </a:defRPr>
            </a:pPr>
            <a:r>
              <a:t>💡 HALLAZGO CLAVE: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 b="0">
                <a:solidFill>
                  <a:srgbClr val="323232"/>
                </a:solidFill>
              </a:defRPr>
            </a:pPr>
            <a:r>
              <a:t>Películas PG-13 tienden a recaudar más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 b="0">
                <a:solidFill>
                  <a:srgbClr val="323232"/>
                </a:solidFill>
              </a:defRPr>
            </a:pPr>
            <a:r>
              <a:t>por acceso a audiencia más grande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323232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500" b="1">
                <a:solidFill>
                  <a:srgbClr val="00994C"/>
                </a:solidFill>
              </a:defRPr>
            </a:pPr>
            <a:r>
              <a:t>⚠️ IMPORTANTE: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 b="0">
                <a:solidFill>
                  <a:srgbClr val="323232"/>
                </a:solidFill>
              </a:defRPr>
            </a:pPr>
            <a:r>
              <a:t>NO hay correlación perfecta presupuesto-éxito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Pregunta 1: Regresión Lineal Múltiple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00994C"/>
                </a:solidFill>
              </a:defRPr>
            </a:pPr>
            <a:r>
              <a:t>¿QUÉ FACTORES IMPULSAN LA RECAUDACIÓN?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 b="0">
                <a:solidFill>
                  <a:srgbClr val="323232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00994C"/>
                </a:solidFill>
              </a:defRPr>
            </a:pPr>
            <a:r>
              <a:t>📊 RENDIMIENTO DEL MODELO: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323232"/>
                </a:solidFill>
              </a:defRPr>
            </a:pPr>
            <a:r>
              <a:t>R² = 0.697 (explica 69.7% de variabilidad)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323232"/>
                </a:solidFill>
              </a:defRPr>
            </a:pPr>
            <a:r>
              <a:t>P-value &lt; 0.001 (altamente significativo)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 b="0">
                <a:solidFill>
                  <a:srgbClr val="323232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00994C"/>
                </a:solidFill>
              </a:defRPr>
            </a:pPr>
            <a:r>
              <a:t>⭐ FACTORES MÁS IMPORTANTES: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323232"/>
                </a:solidFill>
              </a:defRPr>
            </a:pPr>
            <a:r>
              <a:t>1. PRESUPUESTO: +0.63% por 1% aumento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323232"/>
                </a:solidFill>
              </a:defRPr>
            </a:pPr>
            <a:r>
              <a:t>2. RATING IMDb: +13% por punto adicional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323232"/>
                </a:solidFill>
              </a:defRPr>
            </a:pPr>
            <a:r>
              <a:t>3. GÉNERO ANIMACIÓN: +31% vs otros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323232"/>
                </a:solidFill>
              </a:defRPr>
            </a:pPr>
            <a:r>
              <a:t>4. CLASIFICACIÓN PG-13: +32% vs otros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 b="0">
                <a:solidFill>
                  <a:srgbClr val="323232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00994C"/>
                </a:solidFill>
              </a:defRPr>
            </a:pPr>
            <a:r>
              <a:t>✅ CONCLUSIÓN: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323232"/>
                </a:solidFill>
              </a:defRPr>
            </a:pPr>
            <a:r>
              <a:t>Presupuesto es dominante, pero calidad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323232"/>
                </a:solidFill>
              </a:defRPr>
            </a:pPr>
            <a:r>
              <a:t>y género también importan significativamente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Pregunta 1: Validación de Supuestos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200"/>
              </a:spcAft>
              <a:defRPr sz="1500" b="1">
                <a:solidFill>
                  <a:srgbClr val="00994C"/>
                </a:solidFill>
              </a:defRPr>
            </a:pPr>
            <a:r>
              <a:t>¿ES CONFIABLE EL MODELO?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 b="0">
                <a:solidFill>
                  <a:srgbClr val="323232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500" b="1">
                <a:solidFill>
                  <a:srgbClr val="323232"/>
                </a:solidFill>
              </a:defRPr>
            </a:pPr>
            <a:r>
              <a:t>✅ INSESGADEZ: Media de residuos ≈ 0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 b="1">
                <a:solidFill>
                  <a:srgbClr val="323232"/>
                </a:solidFill>
              </a:defRPr>
            </a:pPr>
            <a:r>
              <a:t>✅ NORMALIDAD: Test Shapiro-Wilk confirma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 b="1">
                <a:solidFill>
                  <a:srgbClr val="C80000"/>
                </a:solidFill>
              </a:defRPr>
            </a:pPr>
            <a:r>
              <a:t>⚠️  HETEROCEDASTICIDAD: Detectada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323232"/>
                </a:solidFill>
              </a:defRPr>
            </a:pPr>
            <a:r>
              <a:t>    (corregida con errores robustos HC3)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 b="1">
                <a:solidFill>
                  <a:srgbClr val="323232"/>
                </a:solidFill>
              </a:defRPr>
            </a:pPr>
            <a:r>
              <a:t>✅ NO MULTICOLINEALIDAD: Cond.Nº=4.56 &lt;&lt;30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 b="1">
                <a:solidFill>
                  <a:srgbClr val="323232"/>
                </a:solidFill>
              </a:defRPr>
            </a:pPr>
            <a:r>
              <a:t>✅ INDEPENDENCIA: Durbin-Watson ≈ 1.44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 b="0">
                <a:solidFill>
                  <a:srgbClr val="323232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500" b="1">
                <a:solidFill>
                  <a:srgbClr val="00994C"/>
                </a:solidFill>
              </a:defRPr>
            </a:pPr>
            <a:r>
              <a:t>🎯 CONCLUSIÓN: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323232"/>
                </a:solidFill>
              </a:defRPr>
            </a:pPr>
            <a:r>
              <a:t>Modelo VÁLIDO Y CONFIABLE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323232"/>
                </a:solidFill>
              </a:defRPr>
            </a:pPr>
            <a:r>
              <a:t>para predicciones y decisiones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Pregunta 2: K-Means Clustering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"/>
              </a:spcBef>
              <a:spcAft>
                <a:spcPts val="100"/>
              </a:spcAft>
              <a:defRPr sz="1200" b="1">
                <a:solidFill>
                  <a:srgbClr val="00994C"/>
                </a:solidFill>
              </a:defRPr>
            </a:pPr>
            <a:r>
              <a:t>¿QUÉ TIPOS DE BLOCKBUSTERS EXISTEN?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323232"/>
                </a:solidFill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 b="1">
                <a:solidFill>
                  <a:srgbClr val="00994C"/>
                </a:solidFill>
              </a:defRPr>
            </a:pPr>
            <a:r>
              <a:t>5 CLUSTERS IDENTIFICADOS: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323232"/>
                </a:solidFill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 b="1">
                <a:solidFill>
                  <a:srgbClr val="00994C"/>
                </a:solidFill>
              </a:defRPr>
            </a:pPr>
            <a:r>
              <a:t>C0: Blockbusters Probados (15%)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 b="0">
                <a:solidFill>
                  <a:srgbClr val="323232"/>
                </a:solidFill>
              </a:defRPr>
            </a:pPr>
            <a:r>
              <a:t>    → Presupuesto alto + Rating alto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323232"/>
                </a:solidFill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 b="1">
                <a:solidFill>
                  <a:srgbClr val="00994C"/>
                </a:solidFill>
              </a:defRPr>
            </a:pPr>
            <a:r>
              <a:t>C1: Apuestas Riesgosas (8%)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 b="0">
                <a:solidFill>
                  <a:srgbClr val="323232"/>
                </a:solidFill>
              </a:defRPr>
            </a:pPr>
            <a:r>
              <a:t>    → Presupuesto muy alto + Rating mediocre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323232"/>
                </a:solidFill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 b="1">
                <a:solidFill>
                  <a:srgbClr val="00994C"/>
                </a:solidFill>
              </a:defRPr>
            </a:pPr>
            <a:r>
              <a:t>C2: Joyas Ocultas (22%)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 b="0">
                <a:solidFill>
                  <a:srgbClr val="323232"/>
                </a:solidFill>
              </a:defRPr>
            </a:pPr>
            <a:r>
              <a:t>    → Presupuesto moderado + Rating alto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323232"/>
                </a:solidFill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 b="1">
                <a:solidFill>
                  <a:srgbClr val="00994C"/>
                </a:solidFill>
              </a:defRPr>
            </a:pPr>
            <a:r>
              <a:t>C3: Entretenimiento Masivo (35%)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 b="0">
                <a:solidFill>
                  <a:srgbClr val="323232"/>
                </a:solidFill>
              </a:defRPr>
            </a:pPr>
            <a:r>
              <a:t>    → Presupuesto promedio + Rating promedio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323232"/>
                </a:solidFill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 b="1">
                <a:solidFill>
                  <a:srgbClr val="00994C"/>
                </a:solidFill>
              </a:defRPr>
            </a:pPr>
            <a:r>
              <a:t>C4: Experimentos Económicos (20%)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 b="0">
                <a:solidFill>
                  <a:srgbClr val="323232"/>
                </a:solidFill>
              </a:defRPr>
            </a:pPr>
            <a:r>
              <a:t>    → Presupuesto bajo + Rating variable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Pregunta 2: Interpretación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300"/>
              </a:spcAft>
              <a:defRPr sz="1400" b="1">
                <a:solidFill>
                  <a:srgbClr val="00994C"/>
                </a:solidFill>
              </a:defRPr>
            </a:pPr>
            <a:r>
              <a:t>💡 ESTRATEGIAS COMERCIALES DISTINTAS: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323232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400" b="0">
                <a:solidFill>
                  <a:srgbClr val="323232"/>
                </a:solidFill>
              </a:defRPr>
            </a:pPr>
            <a:r>
              <a:t>1️⃣  NO existe fórmula única de éxito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323232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400" b="0">
                <a:solidFill>
                  <a:srgbClr val="323232"/>
                </a:solidFill>
              </a:defRPr>
            </a:pPr>
            <a:r>
              <a:t>2️⃣  Presupuesto alto ≠ Éxito garantizado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 b="0">
                <a:solidFill>
                  <a:srgbClr val="323232"/>
                </a:solidFill>
              </a:defRPr>
            </a:pPr>
            <a:r>
              <a:t>    Cluster 1 gasta mucho pero rating mediocre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323232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400" b="0">
                <a:solidFill>
                  <a:srgbClr val="323232"/>
                </a:solidFill>
              </a:defRPr>
            </a:pPr>
            <a:r>
              <a:t>3️⃣  La eficiencia importa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 b="0">
                <a:solidFill>
                  <a:srgbClr val="323232"/>
                </a:solidFill>
              </a:defRPr>
            </a:pPr>
            <a:r>
              <a:t>    Cluster 2: presupuesto moderado, rating alto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323232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400" b="0">
                <a:solidFill>
                  <a:srgbClr val="323232"/>
                </a:solidFill>
              </a:defRPr>
            </a:pPr>
            <a:r>
              <a:t>4️⃣  Cada estrategia es válida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 b="0">
                <a:solidFill>
                  <a:srgbClr val="323232"/>
                </a:solidFill>
              </a:defRPr>
            </a:pPr>
            <a:r>
              <a:t>    Marvel (Cluster 0) ≠ Indies (Cluster 2)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323232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400" b="1">
                <a:solidFill>
                  <a:srgbClr val="00994C"/>
                </a:solidFill>
              </a:defRPr>
            </a:pPr>
            <a:r>
              <a:t>🎯 IMPLICACIÓN CLAVE: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 b="0">
                <a:solidFill>
                  <a:srgbClr val="323232"/>
                </a:solidFill>
              </a:defRPr>
            </a:pPr>
            <a:r>
              <a:t>No todos los blockbusters necesitan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 b="0">
                <a:solidFill>
                  <a:srgbClr val="323232"/>
                </a:solidFill>
              </a:defRPr>
            </a:pPr>
            <a:r>
              <a:t>presupuestos gigantescos para triunfar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Pregunta 3: Análisis ANOVA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300"/>
              </a:spcAft>
              <a:defRPr sz="1400" b="1">
                <a:solidFill>
                  <a:srgbClr val="00994C"/>
                </a:solidFill>
              </a:defRPr>
            </a:pPr>
            <a:r>
              <a:t>¿HA CAMBIADO RECAUDACIÓN EN EL TIEMPO?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323232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400" b="1">
                <a:solidFill>
                  <a:srgbClr val="323232"/>
                </a:solidFill>
              </a:defRPr>
            </a:pPr>
            <a:r>
              <a:t>RECAUDACIÓN PROMEDIO POR DÉCADA: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323232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400" b="0">
                <a:solidFill>
                  <a:srgbClr val="323232"/>
                </a:solidFill>
              </a:defRPr>
            </a:pPr>
            <a:r>
              <a:t>1970s: $550.2M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 b="0">
                <a:solidFill>
                  <a:srgbClr val="323232"/>
                </a:solidFill>
              </a:defRPr>
            </a:pPr>
            <a:r>
              <a:t>1980s: $618.5M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 b="0">
                <a:solidFill>
                  <a:srgbClr val="323232"/>
                </a:solidFill>
              </a:defRPr>
            </a:pPr>
            <a:r>
              <a:t>1990s: $701.3M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 b="0">
                <a:solidFill>
                  <a:srgbClr val="323232"/>
                </a:solidFill>
              </a:defRPr>
            </a:pPr>
            <a:r>
              <a:t>2000s: $742.8M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 b="1">
                <a:solidFill>
                  <a:srgbClr val="00994C"/>
                </a:solidFill>
              </a:defRPr>
            </a:pPr>
            <a:r>
              <a:t>2010s: $821.5M ⭐ MÁS ALTO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323232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400" b="1">
                <a:solidFill>
                  <a:srgbClr val="00994C"/>
                </a:solidFill>
              </a:defRPr>
            </a:pPr>
            <a:r>
              <a:t>📈 RESULTADO: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 b="0">
                <a:solidFill>
                  <a:srgbClr val="323232"/>
                </a:solidFill>
              </a:defRPr>
            </a:pPr>
            <a:r>
              <a:t>F-statistic significativo (p &lt; 0.001)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 b="0">
                <a:solidFill>
                  <a:srgbClr val="323232"/>
                </a:solidFill>
              </a:defRPr>
            </a:pPr>
            <a:r>
              <a:t>TENDENCIA CRECIENTE clara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323232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400" b="1">
                <a:solidFill>
                  <a:srgbClr val="00994C"/>
                </a:solidFill>
              </a:defRPr>
            </a:pPr>
            <a:r>
              <a:t>💰 INCREMENTO TOTAL: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 b="0">
                <a:solidFill>
                  <a:srgbClr val="323232"/>
                </a:solidFill>
              </a:defRPr>
            </a:pPr>
            <a:r>
              <a:t>2010s recaudan 49% más que 1970s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Limitaciones y 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200"/>
              </a:spcAft>
              <a:defRPr sz="1300" b="1">
                <a:solidFill>
                  <a:srgbClr val="00994C"/>
                </a:solidFill>
              </a:defRPr>
            </a:pPr>
            <a:r>
              <a:t>⚠️  LIMITACIONES: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23232"/>
                </a:solidFill>
              </a:defRPr>
            </a:pPr>
            <a:r>
              <a:t>• Dataset solo Top-10 (sesgo supervivencia)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23232"/>
                </a:solidFill>
              </a:defRPr>
            </a:pPr>
            <a:r>
              <a:t>• Variables limitadas (falta actores, directores)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23232"/>
                </a:solidFill>
              </a:defRPr>
            </a:pPr>
            <a:r>
              <a:t>• Período específico (1977-2019)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23232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300" b="1">
                <a:solidFill>
                  <a:srgbClr val="00994C"/>
                </a:solidFill>
              </a:defRPr>
            </a:pPr>
            <a:r>
              <a:t>✅ CONCLUSIONES PRINCIPALES: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23232"/>
                </a:solidFill>
              </a:defRPr>
            </a:pPr>
            <a:r>
              <a:t>1. Presupuesto importante pero no determinante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23232"/>
                </a:solidFill>
              </a:defRPr>
            </a:pPr>
            <a:r>
              <a:t>2. Múltiples caminos al éxito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23232"/>
                </a:solidFill>
              </a:defRPr>
            </a:pPr>
            <a:r>
              <a:t>3. Industria usa estrategias diferenciadas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23232"/>
                </a:solidFill>
              </a:defRPr>
            </a:pPr>
            <a:r>
              <a:t>4. Tendencia creciente temporal clara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23232"/>
                </a:solidFill>
              </a:defRPr>
            </a:pPr>
            <a:r>
              <a:t>5. Calidad (rating) predice recaudación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23232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300" b="1">
                <a:solidFill>
                  <a:srgbClr val="00994C"/>
                </a:solidFill>
              </a:defRPr>
            </a:pPr>
            <a:r>
              <a:t>🎬 APLICACIÓN PRÁCTICA: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23232"/>
                </a:solidFill>
              </a:defRPr>
            </a:pPr>
            <a:r>
              <a:t>Optimize según estrategia, no todos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23232"/>
                </a:solidFill>
              </a:defRPr>
            </a:pPr>
            <a:r>
              <a:t>necesitan presupuestazos gigantescos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"El éxito en cine no es una fórmula única."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Los datos muestran múltiples caminos válidos hacia blockbusters exitosos.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 algn="ctr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Combinar presupuesto inteligente + buena ejecución + estrategia de mercado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= películas que recaudan.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 algn="ctr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Fuentes: Kaggle | Técnicas: Regresión, Clustering, ANOVA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Período: 1977-2019 | 430 películas analizadas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