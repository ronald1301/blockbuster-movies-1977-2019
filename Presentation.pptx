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175"/>
            <a:ext cx="13042821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6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Análisis Estadístico de Películas Blockbuster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93790" y="3065740"/>
            <a:ext cx="5371862" cy="86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(1977-2019)</a:t>
            </a:r>
            <a:endParaRPr lang="en-US" sz="26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Proyecto Final - Estadística Aplicada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3790" y="4175879"/>
            <a:ext cx="1304282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4653320"/>
            <a:ext cx="5832872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Universidad de La Habana | MATCOM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93790" y="5331262"/>
            <a:ext cx="1304282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3790" y="5808702"/>
            <a:ext cx="2771537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Integrantes: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3790" y="6414730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Ronald Provance Valladares C312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3790" y="6761678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Agustin Alberto Carbajal Romero C312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3790" y="7108627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Dylan Ramsés Cabrera Morales C312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6350"/>
            <a:ext cx="13042821" cy="233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0"/>
              </a:lnSpc>
              <a:buNone/>
            </a:pPr>
            <a:r>
              <a:rPr lang="en-US" sz="7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Objetivos y Preguntas de Investigación</a:t>
            </a:r>
            <a:endParaRPr lang="en-US" sz="7050" dirty="0"/>
          </a:p>
        </p:txBody>
      </p:sp>
      <p:sp>
        <p:nvSpPr>
          <p:cNvPr id="3" name="Text 1"/>
          <p:cNvSpPr/>
          <p:nvPr/>
        </p:nvSpPr>
        <p:spPr>
          <a:xfrm>
            <a:off x="793790" y="3956328"/>
            <a:ext cx="10640258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La industria cinematográfica mueve miles de millones de dólares anuales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93790" y="4470916"/>
            <a:ext cx="1120604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Entender qué impulsa el éxito es fundamental para productores e inversores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93790" y="4985504"/>
            <a:ext cx="4854178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PREGUNTAS DE INVESTIGACIÓN: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93790" y="5500092"/>
            <a:ext cx="9732764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¿Qué factores influyen en la recaudación mundial de una película?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93790" y="6014680"/>
            <a:ext cx="927615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¿Podemos identificar clusters de películas según características?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93790" y="6529268"/>
            <a:ext cx="921877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¿Ha cambiado la recaudación promedio a lo largo del tiempo?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2600"/>
            <a:ext cx="6247448" cy="762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4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Descripción del Dataset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793790" y="2034856"/>
            <a:ext cx="13042821" cy="33099"/>
          </a:xfrm>
          <a:prstGeom prst="rect">
            <a:avLst/>
          </a:prstGeom>
          <a:solidFill>
            <a:srgbClr val="67534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343388"/>
            <a:ext cx="3521393" cy="45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DATASET: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793790" y="2874645"/>
            <a:ext cx="2934533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Fuente: Kaggle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329583"/>
            <a:ext cx="2934533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Período: 1977-2019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3784521"/>
            <a:ext cx="5300186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Observaciones: Top 10 películas por año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3790" y="4239458"/>
            <a:ext cx="2934533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Total: 430 películas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93790" y="4694396"/>
            <a:ext cx="3843457" cy="45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VARIABLES PRINCIPALES: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793790" y="5225653"/>
            <a:ext cx="356758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Presupuesto: $15M - $365M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93790" y="5680591"/>
            <a:ext cx="4288631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Recaudación: variables de riesgo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93790" y="6135529"/>
            <a:ext cx="325135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Rating IMDb: 1-10 escala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93790" y="6590467"/>
            <a:ext cx="4545092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Género: Acción, Drama, Sci-Fi, etc.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93790" y="7045404"/>
            <a:ext cx="4625102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Clasificación MPAA: G, PG, PG-13, R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15672"/>
            <a:ext cx="8644533" cy="750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45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Análisis Exploratorio (Estadísticos)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783669" y="1555552"/>
            <a:ext cx="13063061" cy="2017871"/>
          </a:xfrm>
          <a:prstGeom prst="roundRect">
            <a:avLst>
              <a:gd name="adj" fmla="val 30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1289" y="1563172"/>
            <a:ext cx="13047821" cy="4005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36784" y="1627465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994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VARIABLE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2549" y="1627465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994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MEDIA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64504" y="1627465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994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MEDIANA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26460" y="1627465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994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DESV.EST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1289" y="1963698"/>
            <a:ext cx="13047821" cy="4005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6784" y="2027992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Presupuesto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2549" y="2027992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$108.5M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64504" y="2027992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$100.0M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26460" y="2027992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$67.8M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1289" y="2364224"/>
            <a:ext cx="13047821" cy="4005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6784" y="2428518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Recaudación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2549" y="2428518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$698.0M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64504" y="2428518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$654.0M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26460" y="2428518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$425.0M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1289" y="2764750"/>
            <a:ext cx="13047821" cy="4005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36784" y="2829044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Rating IMDb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02549" y="2829044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6.87/10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64504" y="2829044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6.90/10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26460" y="2829044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0.95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1289" y="3165277"/>
            <a:ext cx="13047821" cy="4005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6784" y="3229570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02549" y="3229570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6.43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64504" y="3229570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5.52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26460" y="3229570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6.21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3669" y="3715226"/>
            <a:ext cx="2092166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HALLAZGOS: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3669" y="4024908"/>
            <a:ext cx="4814888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Presupuestos varían mucho (mín $15M, máx $365M)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3669" y="4334589"/>
            <a:ext cx="5473779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Recaudación inconsistente (no siempre sigue presupuesto)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3669" y="4644271"/>
            <a:ext cx="2778443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Ratings altos (mayoría 6.5-7.5)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3669" y="4953953"/>
            <a:ext cx="3959304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ROI variable: algunos films &gt; 10x inversión</a:t>
            </a:r>
            <a:endParaRPr lang="en-US" sz="16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355" y="5474018"/>
            <a:ext cx="2677001" cy="2037159"/>
          </a:xfrm>
          <a:prstGeom prst="rect">
            <a:avLst/>
          </a:prstGeom>
        </p:spPr>
      </p:pic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272" y="5474375"/>
            <a:ext cx="2676168" cy="2036445"/>
          </a:xfrm>
          <a:prstGeom prst="rect">
            <a:avLst/>
          </a:prstGeom>
        </p:spPr>
      </p:pic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5118" y="5474375"/>
            <a:ext cx="2676168" cy="2036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887"/>
            <a:ext cx="9922669" cy="93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5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Análisis Exploratorio (Patrones)</a:t>
            </a:r>
            <a:endParaRPr lang="en-US" sz="5650" dirty="0"/>
          </a:p>
        </p:txBody>
      </p:sp>
      <p:sp>
        <p:nvSpPr>
          <p:cNvPr id="3" name="Shape 1"/>
          <p:cNvSpPr/>
          <p:nvPr/>
        </p:nvSpPr>
        <p:spPr>
          <a:xfrm>
            <a:off x="793790" y="1940841"/>
            <a:ext cx="13042821" cy="30242"/>
          </a:xfrm>
          <a:prstGeom prst="rect">
            <a:avLst/>
          </a:prstGeom>
          <a:solidFill>
            <a:srgbClr val="67534F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7549"/>
            <a:ext cx="5121831" cy="5144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78936" y="2279452"/>
            <a:ext cx="358259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🎬</a:t>
            </a:r>
            <a:pPr algn="l" indent="0" marL="0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GÉNEROS MÁS COMUNES: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678936" y="2684145"/>
            <a:ext cx="5197197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Acción (32%) | Aventura (28%) | Sci-Fi (18%)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678936" y="3081218"/>
            <a:ext cx="315515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Drama (12%) | Otros (10%)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678936" y="3478292"/>
            <a:ext cx="313801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🎞️</a:t>
            </a:r>
            <a:pPr algn="l" indent="0" marL="0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CLASIFICACIÓN MPAA: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678936" y="3882985"/>
            <a:ext cx="3792617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PG-13: 45% (público más amplio)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7678936" y="4280059"/>
            <a:ext cx="273188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R: 38% (público adulto)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7678936" y="4677132"/>
            <a:ext cx="260842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PG: 12% | G: 5%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7678936" y="5074206"/>
            <a:ext cx="265628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💡</a:t>
            </a:r>
            <a:pPr algn="l" indent="0" marL="0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HALLAZGO CLAVE: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7678936" y="5478899"/>
            <a:ext cx="454271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Películas PG-13 tienden a recaudar más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678936" y="5875973"/>
            <a:ext cx="4136112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por acceso a audiencia más grande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7678936" y="6273046"/>
            <a:ext cx="260842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⚠️</a:t>
            </a:r>
            <a:pPr algn="l" indent="0" marL="0">
              <a:lnSpc>
                <a:spcPts val="2650"/>
              </a:lnSpc>
              <a:buNone/>
            </a:pPr>
            <a:r>
              <a:rPr lang="en-US" sz="20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IMPORTANTE: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7678936" y="6677739"/>
            <a:ext cx="5576173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 hay correlación perfecta presupuesto-éxito</a:t>
            </a:r>
            <a:endParaRPr lang="en-US" sz="2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4731"/>
            <a:ext cx="11202233" cy="877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5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Pregunta 1: Regresión Lineal Múltiple</a:t>
            </a:r>
            <a:endParaRPr lang="en-US" sz="5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5872" y="1916906"/>
            <a:ext cx="3604260" cy="21426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64887" y="1900952"/>
            <a:ext cx="5290661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¿QUÉ FACTORES IMPULSAN LA RECAUDACIÓN?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664887" y="2269808"/>
            <a:ext cx="3296841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RENDIMIENTO DEL MODELO: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664887" y="2638663"/>
            <a:ext cx="457652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R² = 0.697 (explica 69.7% de variabilidad)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64887" y="3007519"/>
            <a:ext cx="451187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P-value &lt; 0.001 (altamente significativo)</a:t>
            </a:r>
            <a:endParaRPr lang="en-US" sz="1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367" y="4489966"/>
            <a:ext cx="4863465" cy="28913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01201" y="4474012"/>
            <a:ext cx="350174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FACTORES MÁS IMPORTANTES: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701201" y="4842867"/>
            <a:ext cx="443174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PRESUPUESTO: +0.63% por 1% aumento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701201" y="5211723"/>
            <a:ext cx="452520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RATING IMDb: +13% por punto adicional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701201" y="5580578"/>
            <a:ext cx="406693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GÉNERO ANIMACIÓN: +31% vs otros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701201" y="5949434"/>
            <a:ext cx="408515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CLASIFICACIÓN PG-13: +32% vs otros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701201" y="6318290"/>
            <a:ext cx="2445425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CONCLUSIÓN: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701201" y="6687145"/>
            <a:ext cx="4389715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Presupuesto es dominante, pero calidad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701201" y="7056001"/>
            <a:ext cx="511575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y género también importan significativamente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1983"/>
            <a:ext cx="9360575" cy="760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50"/>
              </a:lnSpc>
              <a:buNone/>
            </a:pPr>
            <a:r>
              <a:rPr lang="en-US" sz="4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Pregunta 1: Validación de Supuestos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91647" y="1749147"/>
            <a:ext cx="1304710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1647" y="2275284"/>
            <a:ext cx="3811548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00" b="1" dirty="0">
                <a:solidFill>
                  <a:srgbClr val="00994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¿ES CONFIABLE EL MODELO?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1647" y="2930485"/>
            <a:ext cx="13047107" cy="314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INSESGADEZ:</a:t>
            </a:r>
            <a:pPr algn="l" indent="0" marL="0">
              <a:lnSpc>
                <a:spcPts val="245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Media de residuos ≈ 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1647" y="3450788"/>
            <a:ext cx="13047107" cy="314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NORMALIDAD:</a:t>
            </a:r>
            <a:pPr algn="l" indent="0" marL="0">
              <a:lnSpc>
                <a:spcPts val="245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Test Shapiro-Wilk confirma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1647" y="3971092"/>
            <a:ext cx="13047107" cy="314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C8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HETEROCEDASTICIDAD:</a:t>
            </a:r>
            <a:pPr algn="l" indent="0" marL="0">
              <a:lnSpc>
                <a:spcPts val="245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Detectada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1647" y="4491395"/>
            <a:ext cx="13047107" cy="314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(corregida con errores robustos HC3)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1647" y="5011698"/>
            <a:ext cx="13047107" cy="314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MULTICOLINEALIDAD:</a:t>
            </a:r>
            <a:pPr algn="l" indent="0" marL="0">
              <a:lnSpc>
                <a:spcPts val="245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Cond.Nº=4.56 &lt;30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1647" y="5532001"/>
            <a:ext cx="13047107" cy="314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INDEPENDENCIA:</a:t>
            </a:r>
            <a:pPr algn="l" indent="0" marL="0">
              <a:lnSpc>
                <a:spcPts val="245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Durbin-Watson ≈ 1.44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1647" y="6121003"/>
            <a:ext cx="2926437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00" b="1" dirty="0">
                <a:solidFill>
                  <a:srgbClr val="00994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CONCLUSIÓN: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91647" y="6776204"/>
            <a:ext cx="13047107" cy="314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VÁLIDO Y CONFIABLE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1647" y="7296507"/>
            <a:ext cx="13047107" cy="314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predicciones y decisiones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1773"/>
            <a:ext cx="9031605" cy="81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4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Pregunta 2: K-Means Clustering</a:t>
            </a:r>
            <a:endParaRPr lang="en-US" sz="4950" dirty="0"/>
          </a:p>
        </p:txBody>
      </p:sp>
      <p:sp>
        <p:nvSpPr>
          <p:cNvPr id="3" name="Shape 1"/>
          <p:cNvSpPr/>
          <p:nvPr/>
        </p:nvSpPr>
        <p:spPr>
          <a:xfrm>
            <a:off x="793790" y="1972317"/>
            <a:ext cx="13042821" cy="27384"/>
          </a:xfrm>
          <a:prstGeom prst="rect">
            <a:avLst/>
          </a:prstGeom>
          <a:solidFill>
            <a:srgbClr val="67534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124670"/>
            <a:ext cx="13042821" cy="17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TIPOS DE BLOCKBUSTERS EXISTEN?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2425184"/>
            <a:ext cx="13042821" cy="17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CLUSTERS IDENTIFICADOS: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2767370"/>
            <a:ext cx="679965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C0: Blockbusters Probados (15%)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→ Presupuesto alto + Rating alto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108484"/>
            <a:ext cx="7362825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C1: Apuestas Riesgosas (8%)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→ Presupuesto muy alto + Rating mediocre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3449598"/>
            <a:ext cx="6537722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C2: Joyas Ocultas (22%)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→ Presupuesto moderado + Rating alto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3790712"/>
            <a:ext cx="819352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C3: Entretenimiento Masivo (35%)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→ Presupuesto promedio + Rating promedio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4131826"/>
            <a:ext cx="771810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C4: Experimentos Económicos (20%)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→ Presupuesto bajo + Rating variable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595217"/>
            <a:ext cx="13042821" cy="17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endParaRPr lang="en-US" sz="1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2487" y="4895731"/>
            <a:ext cx="9125426" cy="2482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5250"/>
            <a:ext cx="10725150" cy="116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00"/>
              </a:lnSpc>
              <a:buNone/>
            </a:pPr>
            <a:r>
              <a:rPr lang="en-US" sz="7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Pregunta 2: Interpretación</a:t>
            </a:r>
            <a:endParaRPr lang="en-US" sz="7050" dirty="0"/>
          </a:p>
        </p:txBody>
      </p:sp>
      <p:sp>
        <p:nvSpPr>
          <p:cNvPr id="3" name="Shape 1"/>
          <p:cNvSpPr/>
          <p:nvPr/>
        </p:nvSpPr>
        <p:spPr>
          <a:xfrm>
            <a:off x="793790" y="2782167"/>
            <a:ext cx="13042821" cy="35957"/>
          </a:xfrm>
          <a:prstGeom prst="rect">
            <a:avLst/>
          </a:prstGeom>
          <a:solidFill>
            <a:srgbClr val="67534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3158252"/>
            <a:ext cx="5915978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b="1" dirty="0">
                <a:solidFill>
                  <a:srgbClr val="00994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ESTRATEGIAS COMERCIALES DISTINTAS: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93790" y="3672840"/>
            <a:ext cx="507706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NO existe fórmula única de éxito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93790" y="4187428"/>
            <a:ext cx="1224593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Presupuesto alto ≠ Éxito garantizado Cluster 1 gasta mucho pero rating mediocre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93790" y="4702016"/>
            <a:ext cx="1002149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La eficiencia importa Cluster 2: presupuesto moderado, rating alto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93790" y="5216604"/>
            <a:ext cx="957881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Cada estrategia es válida Marvel (Cluster 0) ≠ Indies (Cluster 2)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93790" y="573119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b="1" dirty="0">
                <a:solidFill>
                  <a:srgbClr val="00994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IMPLICACIÓN CLAVE: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93790" y="6245781"/>
            <a:ext cx="52468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 todos los blockbusters necesitan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93790" y="6760369"/>
            <a:ext cx="5647015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presupuestos gigantescos para triunfar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5077"/>
            <a:ext cx="9911358" cy="1038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50"/>
              </a:lnSpc>
              <a:buNone/>
            </a:pPr>
            <a:r>
              <a:rPr lang="en-US" sz="6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Pregunta 3: Análisis ANOVA</a:t>
            </a:r>
            <a:endParaRPr lang="en-US" sz="6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2128957"/>
            <a:ext cx="7975878" cy="5295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44006" y="2088118"/>
            <a:ext cx="3710940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¿HA CAMBIADO RECAUDACIÓN EN EL TIEMPO?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144006" y="2748320"/>
            <a:ext cx="3710940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RECAUDACIÓN PROMEDIO POR DÉCADA: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144006" y="3408521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1970s: $550.2M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144006" y="3820120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1980s: $618.5M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144006" y="4231719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1990s: $701.3M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144006" y="4643318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2000s: $742.8M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144006" y="5054918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2010s: $821.5M MÁS ALTO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144006" y="5466517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144006" y="5878116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F-statistic significativo (p &lt; 0.001)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144006" y="6289715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TENDENCIA CRECIENTE clara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0144006" y="6701314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INCREMENTO TOTAL: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0144006" y="7112913"/>
            <a:ext cx="3710940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2010s recaudan 49% más que 1970s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7578"/>
            <a:ext cx="9529048" cy="994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6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Limitaciones y Conclusiones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93790" y="1867733"/>
            <a:ext cx="2771537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LIMITACIONES: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93790" y="2473762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solo Top-10 (sesgo supervivencia)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2820710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Variables limitadas (falta actores, directores)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3790" y="3167658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Período específico (1977-2019)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3790" y="3703082"/>
            <a:ext cx="3714869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CONCLUSIONES PRINCIPALES: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3790" y="4309110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Presupuesto importante pero no determinante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3790" y="4656058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Múltiples caminos al éxito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3790" y="5003006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Industria usa estrategias diferenciadas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3790" y="5349954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Tendencia creciente temporal clara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3790" y="5696903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Calidad (rating) predice recaudación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3790" y="6232327"/>
            <a:ext cx="3044071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APLICACIÓN PRÁCTICA: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93790" y="6838355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según estrategia, no todos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93790" y="7312343"/>
            <a:ext cx="1304282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necesitan presupuestazos gigantescos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951" y="2216587"/>
            <a:ext cx="9847064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"El éxito en cine no es una fórmula única."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1876425"/>
            <a:ext cx="30480" cy="1358503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3490079"/>
            <a:ext cx="130428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datos muestran múltiples caminos válidos hacia blockbusters exitosos.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13728"/>
            <a:ext cx="130428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Combinar presupuesto inteligente + buena ejecución + estrategia de mercado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737378"/>
            <a:ext cx="130428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películas que recaudan.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361027"/>
            <a:ext cx="130428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Fuentes: Kaggle | Técnicas: Regresión, Clustering, ANOVA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984677"/>
            <a:ext cx="130428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Período: 1977-2019 | 430 películas analizadas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2026-01-16T09:16:10Z</dcterms:created>
  <dcterms:modified xsi:type="dcterms:W3CDTF">2026-01-16T09:16:10Z</dcterms:modified>
</cp:coreProperties>
</file>